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ek Tall Arabic Bold" charset="1" panose="00000000000000000000"/>
      <p:regular r:id="rId25"/>
    </p:embeddedFont>
    <p:embeddedFont>
      <p:font typeface="Open Sans" charset="1" panose="020B0606030504020204"/>
      <p:regular r:id="rId26"/>
    </p:embeddedFont>
    <p:embeddedFont>
      <p:font typeface="Source Sans Pro" charset="1" panose="020B0503030403020204"/>
      <p:regular r:id="rId27"/>
    </p:embeddedFont>
    <p:embeddedFont>
      <p:font typeface="Source Sans Pro Bold" charset="1" panose="020B0703030403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9525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00258" y="4590663"/>
            <a:ext cx="11687484" cy="129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4"/>
              </a:lnSpc>
            </a:pPr>
            <a:r>
              <a:rPr lang="en-US" b="true" sz="10025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APRESENTAÇÃO 2 - PDV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904054" y="621982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0" y="0"/>
                </a:moveTo>
                <a:lnTo>
                  <a:pt x="4441096" y="0"/>
                </a:lnTo>
                <a:lnTo>
                  <a:pt x="4441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47625" y="-6667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444109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41096" y="0"/>
                </a:lnTo>
                <a:lnTo>
                  <a:pt x="444109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76200" y="6200775"/>
            <a:ext cx="4286250" cy="4114800"/>
          </a:xfrm>
          <a:custGeom>
            <a:avLst/>
            <a:gdLst/>
            <a:ahLst/>
            <a:cxnLst/>
            <a:rect r="r" b="b" t="t" l="l"/>
            <a:pathLst>
              <a:path h="4114800" w="4286250">
                <a:moveTo>
                  <a:pt x="0" y="4114800"/>
                </a:moveTo>
                <a:lnTo>
                  <a:pt x="4286250" y="4114800"/>
                </a:lnTo>
                <a:lnTo>
                  <a:pt x="428625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049375" y="0"/>
            <a:ext cx="4286250" cy="4114800"/>
          </a:xfrm>
          <a:custGeom>
            <a:avLst/>
            <a:gdLst/>
            <a:ahLst/>
            <a:cxnLst/>
            <a:rect r="r" b="b" t="t" l="l"/>
            <a:pathLst>
              <a:path h="4114800" w="4286250">
                <a:moveTo>
                  <a:pt x="4286250" y="0"/>
                </a:moveTo>
                <a:lnTo>
                  <a:pt x="0" y="0"/>
                </a:lnTo>
                <a:lnTo>
                  <a:pt x="0" y="4114800"/>
                </a:lnTo>
                <a:lnTo>
                  <a:pt x="4286250" y="4114800"/>
                </a:lnTo>
                <a:lnTo>
                  <a:pt x="42862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76171" y="6612876"/>
            <a:ext cx="8161761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91F38"/>
                </a:solidFill>
                <a:latin typeface="Open Sans"/>
                <a:ea typeface="Open Sans"/>
                <a:cs typeface="Open Sans"/>
                <a:sym typeface="Open Sans"/>
              </a:rPr>
              <a:t>Elena Blanco, Giovanni Toledo, Henrique Fazollo, Larissa Galvão, Mikael Schwind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66775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1708" y="3648180"/>
            <a:ext cx="542207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Melhorar testes unitários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4746" y="1278078"/>
            <a:ext cx="4435974" cy="1410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479"/>
              </a:lnSpc>
            </a:pPr>
            <a:r>
              <a:rPr lang="en-US" b="true" sz="8199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OBJETIVOS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455795" y="-3086100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6560990" y="0"/>
                </a:moveTo>
                <a:lnTo>
                  <a:pt x="0" y="0"/>
                </a:lnTo>
                <a:lnTo>
                  <a:pt x="0" y="3733800"/>
                </a:lnTo>
                <a:lnTo>
                  <a:pt x="6560990" y="3733800"/>
                </a:lnTo>
                <a:lnTo>
                  <a:pt x="65609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2231835" y="9708142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0" y="3733800"/>
                </a:moveTo>
                <a:lnTo>
                  <a:pt x="6560990" y="3733800"/>
                </a:lnTo>
                <a:lnTo>
                  <a:pt x="656099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67494" y="3648180"/>
            <a:ext cx="627745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Aplicar teste estrutural e mutação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1708" y="7359791"/>
            <a:ext cx="629996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Criar testes de sistema (Selenium)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7494" y="5504920"/>
            <a:ext cx="616490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Avaliar qualidade com ISO 25010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67494" y="7359791"/>
            <a:ext cx="5236986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Análise de código com Sonar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1708" y="5504920"/>
            <a:ext cx="668263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Criar testes de integração (Postman)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81725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3935245" y="0"/>
                </a:moveTo>
                <a:lnTo>
                  <a:pt x="0" y="0"/>
                </a:lnTo>
                <a:lnTo>
                  <a:pt x="0" y="4114800"/>
                </a:lnTo>
                <a:lnTo>
                  <a:pt x="3935245" y="4114800"/>
                </a:lnTo>
                <a:lnTo>
                  <a:pt x="39352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352755" y="-19050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0" y="4114800"/>
                </a:moveTo>
                <a:lnTo>
                  <a:pt x="3935245" y="4114800"/>
                </a:lnTo>
                <a:lnTo>
                  <a:pt x="39352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33171" y="3432911"/>
            <a:ext cx="13442913" cy="477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Cada pessoa ficou responsável por: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 Classe Service e Controller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Criar os casos de testes e implementar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Documentar os resultados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Correções do Sonar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</a:t>
            </a: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bs: Os casos de testes e as evidências completas estão organizados em documento específico por classe e funcionalidade testada.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130049" y="1949349"/>
            <a:ext cx="894297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DIVISÃO DAS TAREFAS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7625" y="-6667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444109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41096" y="0"/>
                </a:lnTo>
                <a:lnTo>
                  <a:pt x="444109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3579" y="618172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0" y="0"/>
                </a:moveTo>
                <a:lnTo>
                  <a:pt x="4441096" y="0"/>
                </a:lnTo>
                <a:lnTo>
                  <a:pt x="4441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72923" y="4034155"/>
            <a:ext cx="6847471" cy="177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Criação e aumento dos testes unitários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Isolamento das dependências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6801" y="1621894"/>
            <a:ext cx="653439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TESTES UNITÁRIOS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-76200" y="7865990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0" y="2449585"/>
                </a:moveTo>
                <a:lnTo>
                  <a:pt x="2551652" y="2449585"/>
                </a:lnTo>
                <a:lnTo>
                  <a:pt x="2551652" y="0"/>
                </a:lnTo>
                <a:lnTo>
                  <a:pt x="0" y="0"/>
                </a:lnTo>
                <a:lnTo>
                  <a:pt x="0" y="24495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783973" y="-66675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2551652" y="0"/>
                </a:moveTo>
                <a:lnTo>
                  <a:pt x="0" y="0"/>
                </a:lnTo>
                <a:lnTo>
                  <a:pt x="0" y="2449585"/>
                </a:lnTo>
                <a:lnTo>
                  <a:pt x="2551652" y="2449585"/>
                </a:lnTo>
                <a:lnTo>
                  <a:pt x="25516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69497" y="3990975"/>
            <a:ext cx="7590302" cy="35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Uso de: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JUnit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Mockito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JaCoCo (cobertura estrutural)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PiTest 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3579" y="618172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0" y="0"/>
                </a:moveTo>
                <a:lnTo>
                  <a:pt x="4441096" y="0"/>
                </a:lnTo>
                <a:lnTo>
                  <a:pt x="4441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-497826" y="-613410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444109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41097" y="0"/>
                </a:lnTo>
                <a:lnTo>
                  <a:pt x="444109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76200" y="7865990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0" y="2449585"/>
                </a:moveTo>
                <a:lnTo>
                  <a:pt x="2551652" y="2449585"/>
                </a:lnTo>
                <a:lnTo>
                  <a:pt x="2551652" y="0"/>
                </a:lnTo>
                <a:lnTo>
                  <a:pt x="0" y="0"/>
                </a:lnTo>
                <a:lnTo>
                  <a:pt x="0" y="24495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783973" y="-66675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2551652" y="0"/>
                </a:moveTo>
                <a:lnTo>
                  <a:pt x="0" y="0"/>
                </a:lnTo>
                <a:lnTo>
                  <a:pt x="0" y="2449585"/>
                </a:lnTo>
                <a:lnTo>
                  <a:pt x="2551652" y="2449585"/>
                </a:lnTo>
                <a:lnTo>
                  <a:pt x="25516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57107" y="3275344"/>
            <a:ext cx="8121954" cy="5563538"/>
          </a:xfrm>
          <a:custGeom>
            <a:avLst/>
            <a:gdLst/>
            <a:ahLst/>
            <a:cxnLst/>
            <a:rect r="r" b="b" t="t" l="l"/>
            <a:pathLst>
              <a:path h="5563538" w="8121954">
                <a:moveTo>
                  <a:pt x="0" y="0"/>
                </a:moveTo>
                <a:lnTo>
                  <a:pt x="8121954" y="0"/>
                </a:lnTo>
                <a:lnTo>
                  <a:pt x="8121954" y="5563539"/>
                </a:lnTo>
                <a:lnTo>
                  <a:pt x="0" y="55635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439990" y="3942881"/>
            <a:ext cx="7160205" cy="41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3F72A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Exemplo de metodo testado: </a:t>
            </a: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ProdutoService.movimentaEstoque(</a:t>
            </a: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3F72A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Caso de Teste:</a:t>
            </a: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PS-006 - movimentaEstoque - Saldo Insuficiente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20092" y="1310640"/>
            <a:ext cx="653439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TESTES UNITÁRIOS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455795" y="-3086100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6560990" y="0"/>
                </a:moveTo>
                <a:lnTo>
                  <a:pt x="0" y="0"/>
                </a:lnTo>
                <a:lnTo>
                  <a:pt x="0" y="3733800"/>
                </a:lnTo>
                <a:lnTo>
                  <a:pt x="6560990" y="3733800"/>
                </a:lnTo>
                <a:lnTo>
                  <a:pt x="65609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231835" y="9708142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0" y="3733800"/>
                </a:moveTo>
                <a:lnTo>
                  <a:pt x="6560990" y="3733800"/>
                </a:lnTo>
                <a:lnTo>
                  <a:pt x="656099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53145" y="3518915"/>
            <a:ext cx="9589195" cy="2112585"/>
          </a:xfrm>
          <a:custGeom>
            <a:avLst/>
            <a:gdLst/>
            <a:ahLst/>
            <a:cxnLst/>
            <a:rect r="r" b="b" t="t" l="l"/>
            <a:pathLst>
              <a:path h="2112585" w="9589195">
                <a:moveTo>
                  <a:pt x="0" y="0"/>
                </a:moveTo>
                <a:lnTo>
                  <a:pt x="9589195" y="0"/>
                </a:lnTo>
                <a:lnTo>
                  <a:pt x="9589195" y="2112584"/>
                </a:lnTo>
                <a:lnTo>
                  <a:pt x="0" y="21125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7" r="-1090" b="-820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553145" y="6229513"/>
            <a:ext cx="9589195" cy="2265495"/>
          </a:xfrm>
          <a:custGeom>
            <a:avLst/>
            <a:gdLst/>
            <a:ahLst/>
            <a:cxnLst/>
            <a:rect r="r" b="b" t="t" l="l"/>
            <a:pathLst>
              <a:path h="2265495" w="9589195">
                <a:moveTo>
                  <a:pt x="0" y="0"/>
                </a:moveTo>
                <a:lnTo>
                  <a:pt x="9589195" y="0"/>
                </a:lnTo>
                <a:lnTo>
                  <a:pt x="9589195" y="2265495"/>
                </a:lnTo>
                <a:lnTo>
                  <a:pt x="0" y="22654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68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4715355"/>
            <a:ext cx="8736217" cy="29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NotaFiscalItemService.insere()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Critério: todas as arestas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Antes: 3%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Mínima exigida: 80%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Resultado obtido: 100%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65977" y="1369821"/>
            <a:ext cx="1249033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TESTE ESTRUTURAL COM JACOCO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402529" y="2596641"/>
            <a:ext cx="0" cy="6661659"/>
          </a:xfrm>
          <a:prstGeom prst="line">
            <a:avLst/>
          </a:prstGeom>
          <a:ln cap="flat" w="38100">
            <a:solidFill>
              <a:srgbClr val="3F72AF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8273" y="2772410"/>
            <a:ext cx="12562924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Objetivo: medir a qualidade da suíte de testes.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Serviço Avaliado: ProdutoService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Escore mínimo: 80%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Resultado obtido: 84%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5982" y="1326515"/>
            <a:ext cx="1249033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TESTE DE MUTAÇÃO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455795" y="-3086100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6560990" y="0"/>
                </a:moveTo>
                <a:lnTo>
                  <a:pt x="0" y="0"/>
                </a:lnTo>
                <a:lnTo>
                  <a:pt x="0" y="3733800"/>
                </a:lnTo>
                <a:lnTo>
                  <a:pt x="6560990" y="3733800"/>
                </a:lnTo>
                <a:lnTo>
                  <a:pt x="65609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2231835" y="9708142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0" y="3733800"/>
                </a:moveTo>
                <a:lnTo>
                  <a:pt x="6560990" y="3733800"/>
                </a:lnTo>
                <a:lnTo>
                  <a:pt x="656099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05195" y="5419685"/>
            <a:ext cx="10543706" cy="3717416"/>
          </a:xfrm>
          <a:custGeom>
            <a:avLst/>
            <a:gdLst/>
            <a:ahLst/>
            <a:cxnLst/>
            <a:rect r="r" b="b" t="t" l="l"/>
            <a:pathLst>
              <a:path h="3717416" w="10543706">
                <a:moveTo>
                  <a:pt x="0" y="0"/>
                </a:moveTo>
                <a:lnTo>
                  <a:pt x="10543706" y="0"/>
                </a:lnTo>
                <a:lnTo>
                  <a:pt x="10543706" y="3717417"/>
                </a:lnTo>
                <a:lnTo>
                  <a:pt x="0" y="371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68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4352755" y="-19050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0" y="4114800"/>
                </a:moveTo>
                <a:lnTo>
                  <a:pt x="3935245" y="4114800"/>
                </a:lnTo>
                <a:lnTo>
                  <a:pt x="39352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6181725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3935245" y="0"/>
                </a:moveTo>
                <a:lnTo>
                  <a:pt x="0" y="0"/>
                </a:lnTo>
                <a:lnTo>
                  <a:pt x="0" y="4114800"/>
                </a:lnTo>
                <a:lnTo>
                  <a:pt x="3935245" y="4114800"/>
                </a:lnTo>
                <a:lnTo>
                  <a:pt x="39352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8083" y="2777490"/>
            <a:ext cx="5841595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TESTES</a:t>
            </a:r>
          </a:p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DE INTEGRAÇÃO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8273" y="1971675"/>
            <a:ext cx="9481027" cy="681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256" indent="-380128" lvl="1">
              <a:lnSpc>
                <a:spcPts val="4929"/>
              </a:lnSpc>
              <a:buFont typeface="Arial"/>
              <a:buChar char="•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Testes em endpoints </a:t>
            </a:r>
          </a:p>
          <a:p>
            <a:pPr algn="l" marL="760256" indent="-380128" lvl="1">
              <a:lnSpc>
                <a:spcPts val="4929"/>
              </a:lnSpc>
              <a:buFont typeface="Arial"/>
              <a:buChar char="•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Verificação de:</a:t>
            </a:r>
          </a:p>
          <a:p>
            <a:pPr algn="l" marL="1520511" indent="-506837" lvl="2">
              <a:lnSpc>
                <a:spcPts val="4929"/>
              </a:lnSpc>
              <a:buFont typeface="Arial"/>
              <a:buChar char="⚬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Status HTTP</a:t>
            </a:r>
          </a:p>
          <a:p>
            <a:pPr algn="l" marL="1520511" indent="-506837" lvl="2">
              <a:lnSpc>
                <a:spcPts val="4929"/>
              </a:lnSpc>
              <a:buFont typeface="Arial"/>
              <a:buChar char="⚬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Retorno dos dados</a:t>
            </a:r>
          </a:p>
          <a:p>
            <a:pPr algn="l" marL="760256" indent="-380128" lvl="1">
              <a:lnSpc>
                <a:spcPts val="4929"/>
              </a:lnSpc>
              <a:buFont typeface="Arial"/>
              <a:buChar char="•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Fluxos testados: fornecedores, usuários, venda, etc</a:t>
            </a:r>
          </a:p>
          <a:p>
            <a:pPr algn="l" marL="760256" indent="-380128" lvl="1">
              <a:lnSpc>
                <a:spcPts val="4929"/>
              </a:lnSpc>
              <a:buFont typeface="Arial"/>
              <a:buChar char="•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Dificuldades: </a:t>
            </a:r>
          </a:p>
          <a:p>
            <a:pPr algn="l" marL="1520511" indent="-506837" lvl="2">
              <a:lnSpc>
                <a:spcPts val="4929"/>
              </a:lnSpc>
              <a:buFont typeface="Arial"/>
              <a:buChar char="⚬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Retorno sempre em html entao sempre dava 200;</a:t>
            </a:r>
          </a:p>
          <a:p>
            <a:pPr algn="l" marL="1520511" indent="-506837" lvl="2">
              <a:lnSpc>
                <a:spcPts val="4929"/>
              </a:lnSpc>
              <a:buFont typeface="Arial"/>
              <a:buChar char="⚬"/>
            </a:pPr>
            <a:r>
              <a:rPr lang="en-US" sz="3521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Token da sessão as vezes se perdia;</a:t>
            </a:r>
          </a:p>
          <a:p>
            <a:pPr algn="l">
              <a:lnSpc>
                <a:spcPts val="492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81725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3935245" y="0"/>
                </a:moveTo>
                <a:lnTo>
                  <a:pt x="0" y="0"/>
                </a:lnTo>
                <a:lnTo>
                  <a:pt x="0" y="4114800"/>
                </a:lnTo>
                <a:lnTo>
                  <a:pt x="3935245" y="4114800"/>
                </a:lnTo>
                <a:lnTo>
                  <a:pt x="39352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352755" y="-19050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0" y="4114800"/>
                </a:moveTo>
                <a:lnTo>
                  <a:pt x="3935245" y="4114800"/>
                </a:lnTo>
                <a:lnTo>
                  <a:pt x="39352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65949" y="736069"/>
            <a:ext cx="16928411" cy="8814861"/>
            <a:chOff x="0" y="0"/>
            <a:chExt cx="4458512" cy="2321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58512" cy="2321609"/>
            </a:xfrm>
            <a:custGeom>
              <a:avLst/>
              <a:gdLst/>
              <a:ahLst/>
              <a:cxnLst/>
              <a:rect r="r" b="b" t="t" l="l"/>
              <a:pathLst>
                <a:path h="2321609" w="4458512">
                  <a:moveTo>
                    <a:pt x="23324" y="0"/>
                  </a:moveTo>
                  <a:lnTo>
                    <a:pt x="4435187" y="0"/>
                  </a:lnTo>
                  <a:cubicBezTo>
                    <a:pt x="4448069" y="0"/>
                    <a:pt x="4458512" y="10443"/>
                    <a:pt x="4458512" y="23324"/>
                  </a:cubicBezTo>
                  <a:lnTo>
                    <a:pt x="4458512" y="2298285"/>
                  </a:lnTo>
                  <a:cubicBezTo>
                    <a:pt x="4458512" y="2311167"/>
                    <a:pt x="4448069" y="2321609"/>
                    <a:pt x="4435187" y="2321609"/>
                  </a:cubicBezTo>
                  <a:lnTo>
                    <a:pt x="23324" y="2321609"/>
                  </a:lnTo>
                  <a:cubicBezTo>
                    <a:pt x="10443" y="2321609"/>
                    <a:pt x="0" y="2311167"/>
                    <a:pt x="0" y="2298285"/>
                  </a:cubicBezTo>
                  <a:lnTo>
                    <a:pt x="0" y="23324"/>
                  </a:lnTo>
                  <a:cubicBezTo>
                    <a:pt x="0" y="10443"/>
                    <a:pt x="10443" y="0"/>
                    <a:pt x="23324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458512" cy="2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76298" y="1173429"/>
            <a:ext cx="8353856" cy="7940142"/>
          </a:xfrm>
          <a:custGeom>
            <a:avLst/>
            <a:gdLst/>
            <a:ahLst/>
            <a:cxnLst/>
            <a:rect r="r" b="b" t="t" l="l"/>
            <a:pathLst>
              <a:path h="7940142" w="8353856">
                <a:moveTo>
                  <a:pt x="0" y="0"/>
                </a:moveTo>
                <a:lnTo>
                  <a:pt x="8353857" y="0"/>
                </a:lnTo>
                <a:lnTo>
                  <a:pt x="8353857" y="7940142"/>
                </a:lnTo>
                <a:lnTo>
                  <a:pt x="0" y="7940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1310620"/>
            <a:ext cx="7780003" cy="7665759"/>
          </a:xfrm>
          <a:custGeom>
            <a:avLst/>
            <a:gdLst/>
            <a:ahLst/>
            <a:cxnLst/>
            <a:rect r="r" b="b" t="t" l="l"/>
            <a:pathLst>
              <a:path h="7665759" w="7780003">
                <a:moveTo>
                  <a:pt x="0" y="0"/>
                </a:moveTo>
                <a:lnTo>
                  <a:pt x="7780003" y="0"/>
                </a:lnTo>
                <a:lnTo>
                  <a:pt x="7780003" y="7665760"/>
                </a:lnTo>
                <a:lnTo>
                  <a:pt x="0" y="7665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7625" y="-6667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444109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41096" y="0"/>
                </a:lnTo>
                <a:lnTo>
                  <a:pt x="444109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3579" y="618172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0" y="0"/>
                </a:moveTo>
                <a:lnTo>
                  <a:pt x="4441096" y="0"/>
                </a:lnTo>
                <a:lnTo>
                  <a:pt x="4441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75452" y="3629342"/>
            <a:ext cx="12680939" cy="35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Objetivo</a:t>
            </a: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Validação do Sistema Completo na Perspectiva do Usuário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Requisitos de Sistema Baseado no Readme e PDV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Fizemos os casos de teste 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Implementação com Selenium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475452" y="1702825"/>
            <a:ext cx="894297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 TESTES DE SISTEMA 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-76200" y="7865990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0" y="2449585"/>
                </a:moveTo>
                <a:lnTo>
                  <a:pt x="2551652" y="2449585"/>
                </a:lnTo>
                <a:lnTo>
                  <a:pt x="2551652" y="0"/>
                </a:lnTo>
                <a:lnTo>
                  <a:pt x="0" y="0"/>
                </a:lnTo>
                <a:lnTo>
                  <a:pt x="0" y="24495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783973" y="-66675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2551652" y="0"/>
                </a:moveTo>
                <a:lnTo>
                  <a:pt x="0" y="0"/>
                </a:lnTo>
                <a:lnTo>
                  <a:pt x="0" y="2449585"/>
                </a:lnTo>
                <a:lnTo>
                  <a:pt x="2551652" y="2449585"/>
                </a:lnTo>
                <a:lnTo>
                  <a:pt x="25516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7625" y="-6667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444109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41096" y="0"/>
                </a:lnTo>
                <a:lnTo>
                  <a:pt x="444109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3579" y="618172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0" y="0"/>
                </a:moveTo>
                <a:lnTo>
                  <a:pt x="4441096" y="0"/>
                </a:lnTo>
                <a:lnTo>
                  <a:pt x="4441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6200" y="7865990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0" y="2449585"/>
                </a:moveTo>
                <a:lnTo>
                  <a:pt x="2551652" y="2449585"/>
                </a:lnTo>
                <a:lnTo>
                  <a:pt x="2551652" y="0"/>
                </a:lnTo>
                <a:lnTo>
                  <a:pt x="0" y="0"/>
                </a:lnTo>
                <a:lnTo>
                  <a:pt x="0" y="24495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8459" y="555989"/>
            <a:ext cx="17446142" cy="9467652"/>
            <a:chOff x="0" y="0"/>
            <a:chExt cx="4594869" cy="2493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4869" cy="2493538"/>
            </a:xfrm>
            <a:custGeom>
              <a:avLst/>
              <a:gdLst/>
              <a:ahLst/>
              <a:cxnLst/>
              <a:rect r="r" b="b" t="t" l="l"/>
              <a:pathLst>
                <a:path h="2493538" w="4594869">
                  <a:moveTo>
                    <a:pt x="22632" y="0"/>
                  </a:moveTo>
                  <a:lnTo>
                    <a:pt x="4572237" y="0"/>
                  </a:lnTo>
                  <a:cubicBezTo>
                    <a:pt x="4578239" y="0"/>
                    <a:pt x="4583996" y="2384"/>
                    <a:pt x="4588240" y="6629"/>
                  </a:cubicBezTo>
                  <a:cubicBezTo>
                    <a:pt x="4592484" y="10873"/>
                    <a:pt x="4594869" y="16629"/>
                    <a:pt x="4594869" y="22632"/>
                  </a:cubicBezTo>
                  <a:lnTo>
                    <a:pt x="4594869" y="2470906"/>
                  </a:lnTo>
                  <a:cubicBezTo>
                    <a:pt x="4594869" y="2476909"/>
                    <a:pt x="4592484" y="2482665"/>
                    <a:pt x="4588240" y="2486909"/>
                  </a:cubicBezTo>
                  <a:cubicBezTo>
                    <a:pt x="4583996" y="2491154"/>
                    <a:pt x="4578239" y="2493538"/>
                    <a:pt x="4572237" y="2493538"/>
                  </a:cubicBezTo>
                  <a:lnTo>
                    <a:pt x="22632" y="2493538"/>
                  </a:lnTo>
                  <a:cubicBezTo>
                    <a:pt x="16629" y="2493538"/>
                    <a:pt x="10873" y="2491154"/>
                    <a:pt x="6629" y="2486909"/>
                  </a:cubicBezTo>
                  <a:cubicBezTo>
                    <a:pt x="2384" y="2482665"/>
                    <a:pt x="0" y="2476909"/>
                    <a:pt x="0" y="2470906"/>
                  </a:cubicBezTo>
                  <a:lnTo>
                    <a:pt x="0" y="22632"/>
                  </a:lnTo>
                  <a:cubicBezTo>
                    <a:pt x="0" y="16629"/>
                    <a:pt x="2384" y="10873"/>
                    <a:pt x="6629" y="6629"/>
                  </a:cubicBezTo>
                  <a:cubicBezTo>
                    <a:pt x="10873" y="2384"/>
                    <a:pt x="16629" y="0"/>
                    <a:pt x="22632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4869" cy="2531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5783973" y="-66675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2551652" y="0"/>
                </a:moveTo>
                <a:lnTo>
                  <a:pt x="0" y="0"/>
                </a:lnTo>
                <a:lnTo>
                  <a:pt x="0" y="2449585"/>
                </a:lnTo>
                <a:lnTo>
                  <a:pt x="2551652" y="2449585"/>
                </a:lnTo>
                <a:lnTo>
                  <a:pt x="25516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18252" y="2171463"/>
            <a:ext cx="8651496" cy="7610231"/>
          </a:xfrm>
          <a:custGeom>
            <a:avLst/>
            <a:gdLst/>
            <a:ahLst/>
            <a:cxnLst/>
            <a:rect r="r" b="b" t="t" l="l"/>
            <a:pathLst>
              <a:path h="7610231" w="8651496">
                <a:moveTo>
                  <a:pt x="0" y="0"/>
                </a:moveTo>
                <a:lnTo>
                  <a:pt x="8651496" y="0"/>
                </a:lnTo>
                <a:lnTo>
                  <a:pt x="8651496" y="7610232"/>
                </a:lnTo>
                <a:lnTo>
                  <a:pt x="0" y="7610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808975" y="763905"/>
            <a:ext cx="1497499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 TESTES DE SISTEMA  - REQUISITOS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7625" y="-6667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444109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41096" y="0"/>
                </a:lnTo>
                <a:lnTo>
                  <a:pt x="444109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13579" y="618172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0" y="0"/>
                </a:moveTo>
                <a:lnTo>
                  <a:pt x="4441096" y="0"/>
                </a:lnTo>
                <a:lnTo>
                  <a:pt x="4441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6200" y="7865990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0" y="2449585"/>
                </a:moveTo>
                <a:lnTo>
                  <a:pt x="2551652" y="2449585"/>
                </a:lnTo>
                <a:lnTo>
                  <a:pt x="2551652" y="0"/>
                </a:lnTo>
                <a:lnTo>
                  <a:pt x="0" y="0"/>
                </a:lnTo>
                <a:lnTo>
                  <a:pt x="0" y="24495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8459" y="555989"/>
            <a:ext cx="17446142" cy="9467652"/>
            <a:chOff x="0" y="0"/>
            <a:chExt cx="4594869" cy="2493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4869" cy="2493538"/>
            </a:xfrm>
            <a:custGeom>
              <a:avLst/>
              <a:gdLst/>
              <a:ahLst/>
              <a:cxnLst/>
              <a:rect r="r" b="b" t="t" l="l"/>
              <a:pathLst>
                <a:path h="2493538" w="4594869">
                  <a:moveTo>
                    <a:pt x="22632" y="0"/>
                  </a:moveTo>
                  <a:lnTo>
                    <a:pt x="4572237" y="0"/>
                  </a:lnTo>
                  <a:cubicBezTo>
                    <a:pt x="4578239" y="0"/>
                    <a:pt x="4583996" y="2384"/>
                    <a:pt x="4588240" y="6629"/>
                  </a:cubicBezTo>
                  <a:cubicBezTo>
                    <a:pt x="4592484" y="10873"/>
                    <a:pt x="4594869" y="16629"/>
                    <a:pt x="4594869" y="22632"/>
                  </a:cubicBezTo>
                  <a:lnTo>
                    <a:pt x="4594869" y="2470906"/>
                  </a:lnTo>
                  <a:cubicBezTo>
                    <a:pt x="4594869" y="2476909"/>
                    <a:pt x="4592484" y="2482665"/>
                    <a:pt x="4588240" y="2486909"/>
                  </a:cubicBezTo>
                  <a:cubicBezTo>
                    <a:pt x="4583996" y="2491154"/>
                    <a:pt x="4578239" y="2493538"/>
                    <a:pt x="4572237" y="2493538"/>
                  </a:cubicBezTo>
                  <a:lnTo>
                    <a:pt x="22632" y="2493538"/>
                  </a:lnTo>
                  <a:cubicBezTo>
                    <a:pt x="16629" y="2493538"/>
                    <a:pt x="10873" y="2491154"/>
                    <a:pt x="6629" y="2486909"/>
                  </a:cubicBezTo>
                  <a:cubicBezTo>
                    <a:pt x="2384" y="2482665"/>
                    <a:pt x="0" y="2476909"/>
                    <a:pt x="0" y="2470906"/>
                  </a:cubicBezTo>
                  <a:lnTo>
                    <a:pt x="0" y="22632"/>
                  </a:lnTo>
                  <a:cubicBezTo>
                    <a:pt x="0" y="16629"/>
                    <a:pt x="2384" y="10873"/>
                    <a:pt x="6629" y="6629"/>
                  </a:cubicBezTo>
                  <a:cubicBezTo>
                    <a:pt x="10873" y="2384"/>
                    <a:pt x="16629" y="0"/>
                    <a:pt x="22632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94869" cy="2531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5783973" y="-66675"/>
            <a:ext cx="2551652" cy="2449585"/>
          </a:xfrm>
          <a:custGeom>
            <a:avLst/>
            <a:gdLst/>
            <a:ahLst/>
            <a:cxnLst/>
            <a:rect r="r" b="b" t="t" l="l"/>
            <a:pathLst>
              <a:path h="2449585" w="2551652">
                <a:moveTo>
                  <a:pt x="2551652" y="0"/>
                </a:moveTo>
                <a:lnTo>
                  <a:pt x="0" y="0"/>
                </a:lnTo>
                <a:lnTo>
                  <a:pt x="0" y="2449585"/>
                </a:lnTo>
                <a:lnTo>
                  <a:pt x="2551652" y="2449585"/>
                </a:lnTo>
                <a:lnTo>
                  <a:pt x="25516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8975" y="2382910"/>
            <a:ext cx="7592993" cy="6690600"/>
          </a:xfrm>
          <a:custGeom>
            <a:avLst/>
            <a:gdLst/>
            <a:ahLst/>
            <a:cxnLst/>
            <a:rect r="r" b="b" t="t" l="l"/>
            <a:pathLst>
              <a:path h="6690600" w="7592993">
                <a:moveTo>
                  <a:pt x="0" y="0"/>
                </a:moveTo>
                <a:lnTo>
                  <a:pt x="7592993" y="0"/>
                </a:lnTo>
                <a:lnTo>
                  <a:pt x="7592993" y="6690600"/>
                </a:lnTo>
                <a:lnTo>
                  <a:pt x="0" y="669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049769" y="1990725"/>
            <a:ext cx="7813568" cy="7676831"/>
          </a:xfrm>
          <a:custGeom>
            <a:avLst/>
            <a:gdLst/>
            <a:ahLst/>
            <a:cxnLst/>
            <a:rect r="r" b="b" t="t" l="l"/>
            <a:pathLst>
              <a:path h="7676831" w="7813568">
                <a:moveTo>
                  <a:pt x="0" y="0"/>
                </a:moveTo>
                <a:lnTo>
                  <a:pt x="7813569" y="0"/>
                </a:lnTo>
                <a:lnTo>
                  <a:pt x="7813569" y="7676831"/>
                </a:lnTo>
                <a:lnTo>
                  <a:pt x="0" y="7676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808975" y="763905"/>
            <a:ext cx="1497499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 TESTES DE SISTEMA  - CASOS + SELENIUM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5909" y="263359"/>
            <a:ext cx="17738773" cy="9760283"/>
            <a:chOff x="0" y="0"/>
            <a:chExt cx="4671940" cy="25706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1940" cy="2570609"/>
            </a:xfrm>
            <a:custGeom>
              <a:avLst/>
              <a:gdLst/>
              <a:ahLst/>
              <a:cxnLst/>
              <a:rect r="r" b="b" t="t" l="l"/>
              <a:pathLst>
                <a:path h="2570609" w="4671940">
                  <a:moveTo>
                    <a:pt x="22258" y="0"/>
                  </a:moveTo>
                  <a:lnTo>
                    <a:pt x="4649682" y="0"/>
                  </a:lnTo>
                  <a:cubicBezTo>
                    <a:pt x="4661975" y="0"/>
                    <a:pt x="4671940" y="9965"/>
                    <a:pt x="4671940" y="22258"/>
                  </a:cubicBezTo>
                  <a:lnTo>
                    <a:pt x="4671940" y="2548351"/>
                  </a:lnTo>
                  <a:cubicBezTo>
                    <a:pt x="4671940" y="2554254"/>
                    <a:pt x="4669595" y="2559916"/>
                    <a:pt x="4665421" y="2564090"/>
                  </a:cubicBezTo>
                  <a:cubicBezTo>
                    <a:pt x="4661246" y="2568264"/>
                    <a:pt x="4655585" y="2570609"/>
                    <a:pt x="4649682" y="2570609"/>
                  </a:cubicBezTo>
                  <a:lnTo>
                    <a:pt x="22258" y="2570609"/>
                  </a:lnTo>
                  <a:cubicBezTo>
                    <a:pt x="9965" y="2570609"/>
                    <a:pt x="0" y="2560644"/>
                    <a:pt x="0" y="2548351"/>
                  </a:cubicBezTo>
                  <a:lnTo>
                    <a:pt x="0" y="22258"/>
                  </a:lnTo>
                  <a:cubicBezTo>
                    <a:pt x="0" y="16355"/>
                    <a:pt x="2345" y="10694"/>
                    <a:pt x="6519" y="6519"/>
                  </a:cubicBezTo>
                  <a:cubicBezTo>
                    <a:pt x="10694" y="2345"/>
                    <a:pt x="16355" y="0"/>
                    <a:pt x="22258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71940" cy="2608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2080" y="2172335"/>
            <a:ext cx="8047770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1. Funcionalidade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 Cobertura de Implementação de Requisitos Funcionais (CIRF)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≥95% ok | 90–94% médio | &lt;90% ruim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Funções críticas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89457" y="560688"/>
            <a:ext cx="4016618" cy="1410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479"/>
              </a:lnSpc>
            </a:pPr>
            <a:r>
              <a:rPr lang="en-US" b="true" sz="8199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ISO 25010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455795" y="-3086100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6560990" y="0"/>
                </a:moveTo>
                <a:lnTo>
                  <a:pt x="0" y="0"/>
                </a:lnTo>
                <a:lnTo>
                  <a:pt x="0" y="3733800"/>
                </a:lnTo>
                <a:lnTo>
                  <a:pt x="6560990" y="3733800"/>
                </a:lnTo>
                <a:lnTo>
                  <a:pt x="65609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2231835" y="9708142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0" y="3733800"/>
                </a:moveTo>
                <a:lnTo>
                  <a:pt x="6560990" y="3733800"/>
                </a:lnTo>
                <a:lnTo>
                  <a:pt x="656099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77345" y="2105009"/>
            <a:ext cx="8442135" cy="340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1"/>
              </a:lnSpc>
            </a:pPr>
            <a:r>
              <a:rPr lang="en-US" sz="3265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2. Desempenho</a:t>
            </a:r>
          </a:p>
          <a:p>
            <a:pPr algn="l">
              <a:lnSpc>
                <a:spcPts val="4571"/>
              </a:lnSpc>
            </a:pPr>
            <a:r>
              <a:rPr lang="en-US" sz="3265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 Tempo Médio de Resposta </a:t>
            </a:r>
          </a:p>
          <a:p>
            <a:pPr algn="l">
              <a:lnSpc>
                <a:spcPts val="4571"/>
              </a:lnSpc>
            </a:pPr>
            <a:r>
              <a:rPr lang="en-US" sz="3265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≤300 ok | 301–800 médio | &gt;800 ruim</a:t>
            </a:r>
          </a:p>
          <a:p>
            <a:pPr algn="l">
              <a:lnSpc>
                <a:spcPts val="4571"/>
              </a:lnSpc>
            </a:pPr>
            <a:r>
              <a:rPr lang="en-US" sz="3265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O PDV exige respostas rápidas no atendimento.</a:t>
            </a:r>
          </a:p>
          <a:p>
            <a:pPr algn="l">
              <a:lnSpc>
                <a:spcPts val="45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71130" y="6119813"/>
            <a:ext cx="8002275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3. Compatibilidade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Funcionalidades Compatíveis Entre Navegadores (PFN)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100% ok | ≥95% médio | &lt;95% ruim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Diferentes navegadores.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77345" y="5844663"/>
            <a:ext cx="8272870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4. Usabilidade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Nº médio de cliques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≤5 ok | 6–8 médio | &gt;8 ruim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Operações no caixa precisam ser rápidas.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AutoShape 12" id="12"/>
          <p:cNvSpPr/>
          <p:nvPr/>
        </p:nvSpPr>
        <p:spPr>
          <a:xfrm flipV="true">
            <a:off x="852080" y="5508216"/>
            <a:ext cx="17065043" cy="1183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8873405" y="2229485"/>
            <a:ext cx="0" cy="70288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459" y="443439"/>
            <a:ext cx="17626222" cy="9355102"/>
            <a:chOff x="0" y="0"/>
            <a:chExt cx="4642297" cy="24638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2297" cy="2463895"/>
            </a:xfrm>
            <a:custGeom>
              <a:avLst/>
              <a:gdLst/>
              <a:ahLst/>
              <a:cxnLst/>
              <a:rect r="r" b="b" t="t" l="l"/>
              <a:pathLst>
                <a:path h="2463895" w="4642297">
                  <a:moveTo>
                    <a:pt x="22401" y="0"/>
                  </a:moveTo>
                  <a:lnTo>
                    <a:pt x="4619897" y="0"/>
                  </a:lnTo>
                  <a:cubicBezTo>
                    <a:pt x="4625838" y="0"/>
                    <a:pt x="4631536" y="2360"/>
                    <a:pt x="4635736" y="6561"/>
                  </a:cubicBezTo>
                  <a:cubicBezTo>
                    <a:pt x="4639937" y="10762"/>
                    <a:pt x="4642297" y="16460"/>
                    <a:pt x="4642297" y="22401"/>
                  </a:cubicBezTo>
                  <a:lnTo>
                    <a:pt x="4642297" y="2441495"/>
                  </a:lnTo>
                  <a:cubicBezTo>
                    <a:pt x="4642297" y="2447435"/>
                    <a:pt x="4639937" y="2453133"/>
                    <a:pt x="4635736" y="2457334"/>
                  </a:cubicBezTo>
                  <a:cubicBezTo>
                    <a:pt x="4631536" y="2461535"/>
                    <a:pt x="4625838" y="2463895"/>
                    <a:pt x="4619897" y="2463895"/>
                  </a:cubicBezTo>
                  <a:lnTo>
                    <a:pt x="22401" y="2463895"/>
                  </a:lnTo>
                  <a:cubicBezTo>
                    <a:pt x="16460" y="2463895"/>
                    <a:pt x="10762" y="2461535"/>
                    <a:pt x="6561" y="2457334"/>
                  </a:cubicBezTo>
                  <a:cubicBezTo>
                    <a:pt x="2360" y="2453133"/>
                    <a:pt x="0" y="2447435"/>
                    <a:pt x="0" y="2441495"/>
                  </a:cubicBezTo>
                  <a:lnTo>
                    <a:pt x="0" y="22401"/>
                  </a:lnTo>
                  <a:cubicBezTo>
                    <a:pt x="0" y="16460"/>
                    <a:pt x="2360" y="10762"/>
                    <a:pt x="6561" y="6561"/>
                  </a:cubicBezTo>
                  <a:cubicBezTo>
                    <a:pt x="10762" y="2360"/>
                    <a:pt x="16460" y="0"/>
                    <a:pt x="22401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42297" cy="2501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1130" y="2188353"/>
            <a:ext cx="8030391" cy="35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5. Confiabilidade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Taxa de Falhas em Operações Críticas (TFOC)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≤0,5% ok | 0,6–2% médio | &gt;2% ruim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Falhas impactam o caixa.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042191" y="571500"/>
            <a:ext cx="4241718" cy="1410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9"/>
              </a:lnSpc>
            </a:pPr>
            <a:r>
              <a:rPr lang="en-US" sz="8199" b="true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ISO 25010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455795" y="-3086100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6560990" y="0"/>
                </a:moveTo>
                <a:lnTo>
                  <a:pt x="0" y="0"/>
                </a:lnTo>
                <a:lnTo>
                  <a:pt x="0" y="3733800"/>
                </a:lnTo>
                <a:lnTo>
                  <a:pt x="6560990" y="3733800"/>
                </a:lnTo>
                <a:lnTo>
                  <a:pt x="65609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2231835" y="9708142"/>
            <a:ext cx="6560990" cy="3733800"/>
          </a:xfrm>
          <a:custGeom>
            <a:avLst/>
            <a:gdLst/>
            <a:ahLst/>
            <a:cxnLst/>
            <a:rect r="r" b="b" t="t" l="l"/>
            <a:pathLst>
              <a:path h="3733800" w="6560990">
                <a:moveTo>
                  <a:pt x="0" y="3733800"/>
                </a:moveTo>
                <a:lnTo>
                  <a:pt x="6560990" y="3733800"/>
                </a:lnTo>
                <a:lnTo>
                  <a:pt x="656099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63302" y="2149825"/>
            <a:ext cx="8272870" cy="35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6. Segurança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Taxa de Controle de Acesso Correto (TCAC)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≥99% ok | 95–98% médio | &lt;95% ruim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Controle de acesso por perfil.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71130" y="5519738"/>
            <a:ext cx="7916506" cy="41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7. Manutenibilidade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Complexidade Ciclomática Média (CCM)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≤10 ok | 11–20 médio | &gt;20 ruim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Manutenções precisar ser fáceis.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25395" y="5519738"/>
            <a:ext cx="8272870" cy="41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91F38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8. Portabilidade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Métrica: Esforço de Implantação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Escala: 0 ajustes ok | 1–2 médio | muda código ruim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Justificativa: Sistema roda em diferentes lojas.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AutoShape 12" id="12"/>
          <p:cNvSpPr/>
          <p:nvPr/>
        </p:nvSpPr>
        <p:spPr>
          <a:xfrm>
            <a:off x="9048750" y="2206975"/>
            <a:ext cx="19050" cy="72992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71130" y="5376863"/>
            <a:ext cx="170650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81725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3935245" y="0"/>
                </a:moveTo>
                <a:lnTo>
                  <a:pt x="0" y="0"/>
                </a:lnTo>
                <a:lnTo>
                  <a:pt x="0" y="4114800"/>
                </a:lnTo>
                <a:lnTo>
                  <a:pt x="3935245" y="4114800"/>
                </a:lnTo>
                <a:lnTo>
                  <a:pt x="39352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352755" y="-19050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0" y="4114800"/>
                </a:moveTo>
                <a:lnTo>
                  <a:pt x="3935245" y="4114800"/>
                </a:lnTo>
                <a:lnTo>
                  <a:pt x="39352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93305" y="2261289"/>
            <a:ext cx="1210139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 INSPEÇÃO DE CÓDIGO COM SONAR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93305" y="4419917"/>
            <a:ext cx="10932632" cy="297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Quantidade de bugs resolvidos: 15 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Code smells: 77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Vulnerabilidades 1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Dificuldade: rodar o sonar compativel com o java 8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81725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3935245" y="0"/>
                </a:moveTo>
                <a:lnTo>
                  <a:pt x="0" y="0"/>
                </a:lnTo>
                <a:lnTo>
                  <a:pt x="0" y="4114800"/>
                </a:lnTo>
                <a:lnTo>
                  <a:pt x="3935245" y="4114800"/>
                </a:lnTo>
                <a:lnTo>
                  <a:pt x="39352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352755" y="-19050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0" y="4114800"/>
                </a:moveTo>
                <a:lnTo>
                  <a:pt x="3935245" y="4114800"/>
                </a:lnTo>
                <a:lnTo>
                  <a:pt x="39352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56626" y="3401925"/>
            <a:ext cx="8860403" cy="5559600"/>
          </a:xfrm>
          <a:custGeom>
            <a:avLst/>
            <a:gdLst/>
            <a:ahLst/>
            <a:cxnLst/>
            <a:rect r="r" b="b" t="t" l="l"/>
            <a:pathLst>
              <a:path h="5559600" w="8860403">
                <a:moveTo>
                  <a:pt x="0" y="0"/>
                </a:moveTo>
                <a:lnTo>
                  <a:pt x="8860403" y="0"/>
                </a:lnTo>
                <a:lnTo>
                  <a:pt x="8860403" y="5559600"/>
                </a:lnTo>
                <a:lnTo>
                  <a:pt x="0" y="555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886578" y="2765155"/>
            <a:ext cx="8686669" cy="5473970"/>
          </a:xfrm>
          <a:custGeom>
            <a:avLst/>
            <a:gdLst/>
            <a:ahLst/>
            <a:cxnLst/>
            <a:rect r="r" b="b" t="t" l="l"/>
            <a:pathLst>
              <a:path h="5473970" w="8686669">
                <a:moveTo>
                  <a:pt x="0" y="0"/>
                </a:moveTo>
                <a:lnTo>
                  <a:pt x="8686669" y="0"/>
                </a:lnTo>
                <a:lnTo>
                  <a:pt x="8686669" y="5473970"/>
                </a:lnTo>
                <a:lnTo>
                  <a:pt x="0" y="5473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093305" y="1538335"/>
            <a:ext cx="1210139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 INSPEÇÃO DE CÓDIGO COM SONAR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81725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3935245" y="0"/>
                </a:moveTo>
                <a:lnTo>
                  <a:pt x="0" y="0"/>
                </a:lnTo>
                <a:lnTo>
                  <a:pt x="0" y="4114800"/>
                </a:lnTo>
                <a:lnTo>
                  <a:pt x="3935245" y="4114800"/>
                </a:lnTo>
                <a:lnTo>
                  <a:pt x="39352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352755" y="-19050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0" y="4114800"/>
                </a:moveTo>
                <a:lnTo>
                  <a:pt x="3935245" y="4114800"/>
                </a:lnTo>
                <a:lnTo>
                  <a:pt x="39352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12038" y="1839566"/>
            <a:ext cx="1210139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CORREÇÕES APLICADAS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12038" y="3797615"/>
            <a:ext cx="10629533" cy="467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4"/>
              </a:lnSpc>
              <a:spcBef>
                <a:spcPct val="0"/>
              </a:spcBef>
            </a:pPr>
            <a:r>
              <a:rPr lang="en-US" sz="2667">
                <a:solidFill>
                  <a:srgbClr val="091F38"/>
                </a:solidFill>
                <a:latin typeface="Open Sans"/>
                <a:ea typeface="Open Sans"/>
                <a:cs typeface="Open Sans"/>
                <a:sym typeface="Open Sans"/>
              </a:rPr>
              <a:t>As correções envolveram refatorações que não influenciaram em funcionamento, mas melhoraram a estrutura. Algumas foram:</a:t>
            </a:r>
          </a:p>
          <a:p>
            <a:pPr algn="l">
              <a:lnSpc>
                <a:spcPts val="3734"/>
              </a:lnSpc>
              <a:spcBef>
                <a:spcPct val="0"/>
              </a:spcBef>
            </a:pPr>
          </a:p>
          <a:p>
            <a:pPr algn="l" marL="575973" indent="-287986" lvl="1">
              <a:lnSpc>
                <a:spcPts val="3734"/>
              </a:lnSpc>
              <a:spcBef>
                <a:spcPct val="0"/>
              </a:spcBef>
              <a:buFont typeface="Arial"/>
              <a:buChar char="•"/>
            </a:pPr>
            <a:r>
              <a:rPr lang="en-US" sz="2667">
                <a:solidFill>
                  <a:srgbClr val="091F38"/>
                </a:solidFill>
                <a:latin typeface="Open Sans"/>
                <a:ea typeface="Open Sans"/>
                <a:cs typeface="Open Sans"/>
                <a:sym typeface="Open Sans"/>
              </a:rPr>
              <a:t>Criação de Exceções específicas;</a:t>
            </a:r>
          </a:p>
          <a:p>
            <a:pPr algn="l" marL="575973" indent="-287986" lvl="1">
              <a:lnSpc>
                <a:spcPts val="3734"/>
              </a:lnSpc>
              <a:spcBef>
                <a:spcPct val="0"/>
              </a:spcBef>
              <a:buFont typeface="Arial"/>
              <a:buChar char="•"/>
            </a:pPr>
            <a:r>
              <a:rPr lang="en-US" sz="2667">
                <a:solidFill>
                  <a:srgbClr val="091F38"/>
                </a:solidFill>
                <a:latin typeface="Open Sans"/>
                <a:ea typeface="Open Sans"/>
                <a:cs typeface="Open Sans"/>
                <a:sym typeface="Open Sans"/>
              </a:rPr>
              <a:t>Múltiplos parâmetros em um método transformados em DTO;</a:t>
            </a:r>
          </a:p>
          <a:p>
            <a:pPr algn="l" marL="575973" indent="-287986" lvl="1">
              <a:lnSpc>
                <a:spcPts val="3734"/>
              </a:lnSpc>
              <a:spcBef>
                <a:spcPct val="0"/>
              </a:spcBef>
              <a:buFont typeface="Arial"/>
              <a:buChar char="•"/>
            </a:pPr>
            <a:r>
              <a:rPr lang="en-US" sz="2667">
                <a:solidFill>
                  <a:srgbClr val="091F38"/>
                </a:solidFill>
                <a:latin typeface="Open Sans"/>
                <a:ea typeface="Open Sans"/>
                <a:cs typeface="Open Sans"/>
                <a:sym typeface="Open Sans"/>
              </a:rPr>
              <a:t>Nomes de variáveis para ficar de acordo com o padrão do Sonar;</a:t>
            </a:r>
          </a:p>
          <a:p>
            <a:pPr algn="l">
              <a:lnSpc>
                <a:spcPts val="3734"/>
              </a:lnSpc>
              <a:spcBef>
                <a:spcPct val="0"/>
              </a:spcBef>
            </a:pPr>
          </a:p>
          <a:p>
            <a:pPr algn="l">
              <a:lnSpc>
                <a:spcPts val="3734"/>
              </a:lnSpc>
              <a:spcBef>
                <a:spcPct val="0"/>
              </a:spcBef>
            </a:pPr>
            <a:r>
              <a:rPr lang="en-US" sz="2667">
                <a:solidFill>
                  <a:srgbClr val="091F38"/>
                </a:solidFill>
                <a:latin typeface="Open Sans"/>
                <a:ea typeface="Open Sans"/>
                <a:cs typeface="Open Sans"/>
                <a:sym typeface="Open Sans"/>
              </a:rPr>
              <a:t>As alterações em detalhes se encontram no relatório de testes.</a:t>
            </a:r>
          </a:p>
          <a:p>
            <a:pPr algn="l">
              <a:lnSpc>
                <a:spcPts val="37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181725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3935245" y="0"/>
                </a:moveTo>
                <a:lnTo>
                  <a:pt x="0" y="0"/>
                </a:lnTo>
                <a:lnTo>
                  <a:pt x="0" y="4114800"/>
                </a:lnTo>
                <a:lnTo>
                  <a:pt x="3935245" y="4114800"/>
                </a:lnTo>
                <a:lnTo>
                  <a:pt x="39352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352755" y="-19050"/>
            <a:ext cx="3935245" cy="4114800"/>
          </a:xfrm>
          <a:custGeom>
            <a:avLst/>
            <a:gdLst/>
            <a:ahLst/>
            <a:cxnLst/>
            <a:rect r="r" b="b" t="t" l="l"/>
            <a:pathLst>
              <a:path h="4114800" w="3935245">
                <a:moveTo>
                  <a:pt x="0" y="4114800"/>
                </a:moveTo>
                <a:lnTo>
                  <a:pt x="3935245" y="4114800"/>
                </a:lnTo>
                <a:lnTo>
                  <a:pt x="39352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3810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12038" y="1839566"/>
            <a:ext cx="1210139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DESAFIOS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77684" y="3329896"/>
            <a:ext cx="10932632" cy="357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Compatibilidade com Java8;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Aumentar a cobertura do teste de mutação;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Testes Funcionais atrapalhando;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Rodar o Sonar;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91F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Selenium enfrentava muitos erros de perda de conexão com o web-driver;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DFD"/>
            </a:solidFill>
            <a:ln w="95250" cap="rnd">
              <a:solidFill>
                <a:srgbClr val="091F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00258" y="4426856"/>
            <a:ext cx="11687484" cy="179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1"/>
              </a:lnSpc>
            </a:pPr>
            <a:r>
              <a:rPr lang="en-US" b="true" sz="13824">
                <a:solidFill>
                  <a:srgbClr val="091F38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OBRIGADO!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904054" y="621982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0" y="0"/>
                </a:moveTo>
                <a:lnTo>
                  <a:pt x="4441096" y="0"/>
                </a:lnTo>
                <a:lnTo>
                  <a:pt x="4441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47625" y="-66675"/>
            <a:ext cx="4441096" cy="4114800"/>
          </a:xfrm>
          <a:custGeom>
            <a:avLst/>
            <a:gdLst/>
            <a:ahLst/>
            <a:cxnLst/>
            <a:rect r="r" b="b" t="t" l="l"/>
            <a:pathLst>
              <a:path h="4114800" w="4441096">
                <a:moveTo>
                  <a:pt x="444109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41096" y="0"/>
                </a:lnTo>
                <a:lnTo>
                  <a:pt x="444109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76200" y="6200775"/>
            <a:ext cx="4286250" cy="4114800"/>
          </a:xfrm>
          <a:custGeom>
            <a:avLst/>
            <a:gdLst/>
            <a:ahLst/>
            <a:cxnLst/>
            <a:rect r="r" b="b" t="t" l="l"/>
            <a:pathLst>
              <a:path h="4114800" w="4286250">
                <a:moveTo>
                  <a:pt x="0" y="4114800"/>
                </a:moveTo>
                <a:lnTo>
                  <a:pt x="4286250" y="4114800"/>
                </a:lnTo>
                <a:lnTo>
                  <a:pt x="428625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049375" y="0"/>
            <a:ext cx="4286250" cy="4114800"/>
          </a:xfrm>
          <a:custGeom>
            <a:avLst/>
            <a:gdLst/>
            <a:ahLst/>
            <a:cxnLst/>
            <a:rect r="r" b="b" t="t" l="l"/>
            <a:pathLst>
              <a:path h="4114800" w="4286250">
                <a:moveTo>
                  <a:pt x="4286250" y="0"/>
                </a:moveTo>
                <a:lnTo>
                  <a:pt x="0" y="0"/>
                </a:lnTo>
                <a:lnTo>
                  <a:pt x="0" y="4114800"/>
                </a:lnTo>
                <a:lnTo>
                  <a:pt x="4286250" y="4114800"/>
                </a:lnTo>
                <a:lnTo>
                  <a:pt x="42862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DAG6O5a0p8U</dc:identifier>
  <dcterms:modified xsi:type="dcterms:W3CDTF">2011-08-01T06:04:30Z</dcterms:modified>
  <cp:revision>1</cp:revision>
  <dc:title>Trabalho de QA 2</dc:title>
</cp:coreProperties>
</file>